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8A75-E1EC-1924-F431-DC1AB118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D64C7-ED56-FF78-173C-8A0A3DEC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86EA9-607A-6A56-4AFA-D2CDE41EB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9B177-3B2F-1E5D-F123-875B5308B1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23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D4958F-6742-4AE1-9FA0-A2975C365F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7F5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4E78C0-4F08-4F9F-AB54-8932536DA7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905250" cy="6858000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704850"/>
            <a:ext cx="819150" cy="8191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38CB07-EFEA-44B9-B106-5208C6609E83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14617-8BDF-4ED8-80F0-D2503E3C32F9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Healthcare Associated Patient Enrolment and Navigation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D3A62-AA3A-41BE-879E-F3BC9BFE1091}"/>
              </a:ext>
            </a:extLst>
          </p:cNvPr>
          <p:cNvSpPr>
            <a:spLocks noGrp="1"/>
          </p:cNvSpPr>
          <p:nvPr/>
        </p:nvSpPr>
        <p:spPr>
          <a:xfrm>
            <a:off x="400050" y="5054672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Hospital Navigator</a:t>
            </a:r>
            <a:r>
              <a:rPr lang="en-GB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| Cancer Care</a:t>
            </a:r>
            <a:endParaRPr sz="15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D7BA5-98BB-49E0-9796-F057A07D976C}"/>
              </a:ext>
            </a:extLst>
          </p:cNvPr>
          <p:cNvSpPr>
            <a:spLocks noGrp="1"/>
          </p:cNvSpPr>
          <p:nvPr/>
        </p:nvSpPr>
        <p:spPr>
          <a:xfrm>
            <a:off x="4629150" y="1466850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A mobile-first navigator for cancer patients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D9352-7A9C-4129-95F1-213C36EC6C5A}"/>
              </a:ext>
            </a:extLst>
          </p:cNvPr>
          <p:cNvSpPr>
            <a:spLocks noGrp="1"/>
          </p:cNvSpPr>
          <p:nvPr/>
        </p:nvSpPr>
        <p:spPr>
          <a:xfrm>
            <a:off x="4648200" y="268605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The </a:t>
            </a:r>
            <a:r>
              <a:rPr lang="en-GB" sz="1875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HAPPENS application</a:t>
            </a:r>
            <a:r>
              <a:rPr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reduces queue dependence by moving registration, appointments, diagnostic requests, reports, payments and hospital navigation into one patient dashboard.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DCDE3C-A833-423A-A8B1-AFAC053A753C}"/>
              </a:ext>
            </a:extLst>
          </p:cNvPr>
          <p:cNvSpPr>
            <a:spLocks noGrp="1"/>
          </p:cNvSpPr>
          <p:nvPr/>
        </p:nvSpPr>
        <p:spPr>
          <a:xfrm>
            <a:off x="4352097" y="4693961"/>
            <a:ext cx="5575852" cy="76862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FD8D4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953580-6AD8-48F6-B353-B4A6E07774F8}"/>
              </a:ext>
            </a:extLst>
          </p:cNvPr>
          <p:cNvSpPr>
            <a:spLocks noGrp="1"/>
          </p:cNvSpPr>
          <p:nvPr/>
        </p:nvSpPr>
        <p:spPr>
          <a:xfrm>
            <a:off x="4952999" y="4886325"/>
            <a:ext cx="4913243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B615E"/>
                </a:solidFill>
                <a:latin typeface="Aptos"/>
                <a:ea typeface="Aptos"/>
                <a:cs typeface="Aptos"/>
              </a:rPr>
              <a:t>Patient app + </a:t>
            </a:r>
            <a:r>
              <a:rPr lang="en-GB" sz="1725" b="1" dirty="0">
                <a:solidFill>
                  <a:srgbClr val="0B615E"/>
                </a:solidFill>
                <a:latin typeface="Aptos"/>
                <a:ea typeface="Aptos"/>
                <a:cs typeface="Aptos"/>
              </a:rPr>
              <a:t>A</a:t>
            </a:r>
            <a:r>
              <a:rPr sz="1725" b="1" dirty="0" err="1">
                <a:solidFill>
                  <a:srgbClr val="0B615E"/>
                </a:solidFill>
                <a:latin typeface="Aptos"/>
                <a:ea typeface="Aptos"/>
                <a:cs typeface="Aptos"/>
              </a:rPr>
              <a:t>dmin</a:t>
            </a:r>
            <a:r>
              <a:rPr sz="1725" b="1" dirty="0">
                <a:solidFill>
                  <a:srgbClr val="0B615E"/>
                </a:solidFill>
                <a:latin typeface="Aptos"/>
                <a:ea typeface="Aptos"/>
                <a:cs typeface="Aptos"/>
              </a:rPr>
              <a:t> console + HAPENS 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8A1F2F-39B1-0D78-7230-2EBD1736DCDD}"/>
              </a:ext>
            </a:extLst>
          </p:cNvPr>
          <p:cNvSpPr>
            <a:spLocks noGrp="1"/>
          </p:cNvSpPr>
          <p:nvPr/>
        </p:nvSpPr>
        <p:spPr>
          <a:xfrm>
            <a:off x="400050" y="5478741"/>
            <a:ext cx="3505200" cy="127324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GB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Leader – Dr. </a:t>
            </a:r>
            <a:r>
              <a:rPr lang="en-GB" sz="15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Kinjalka</a:t>
            </a:r>
            <a:r>
              <a:rPr lang="en-GB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Ghosh</a:t>
            </a: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GB" sz="15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GB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Doctor Partner – Dr. Shrikant Raut</a:t>
            </a: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GB" sz="15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GB"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Technical Lead – Mr. Gaurav Sriram</a:t>
            </a: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GB" sz="15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809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0A0ED5-5DBE-4DAA-9B3A-1A52A92918C4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CAFA7-AA96-4C02-8E9C-E5873E803223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Cancer-care visits still depend on queues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ABBB0-B088-4904-A94B-DE51A4549EEC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50B35-A3E3-47B4-8CDA-FE16F13AE67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C7D0A7-511E-432C-B08E-6A386D3EF815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7239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Patients often reach the hospital before they know exactly where to go, which counter to visit, or whether a slot is available.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EFD547-13DE-41D7-9C7F-4A4B6038D500}"/>
              </a:ext>
            </a:extLst>
          </p:cNvPr>
          <p:cNvSpPr>
            <a:spLocks noGrp="1"/>
          </p:cNvSpPr>
          <p:nvPr/>
        </p:nvSpPr>
        <p:spPr>
          <a:xfrm>
            <a:off x="819150" y="30575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F146D-150E-4C63-AB4C-93EE6299558B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Registration and enrolment repeat information across desks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320B99-133A-49EE-ABD0-DDB708F75D85}"/>
              </a:ext>
            </a:extLst>
          </p:cNvPr>
          <p:cNvSpPr>
            <a:spLocks noGrp="1"/>
          </p:cNvSpPr>
          <p:nvPr/>
        </p:nvSpPr>
        <p:spPr>
          <a:xfrm>
            <a:off x="819150" y="35528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3C564-7E9C-491B-BB38-1B573741A7E1}"/>
              </a:ext>
            </a:extLst>
          </p:cNvPr>
          <p:cNvSpPr>
            <a:spLocks noGrp="1"/>
          </p:cNvSpPr>
          <p:nvPr/>
        </p:nvSpPr>
        <p:spPr>
          <a:xfrm>
            <a:off x="1047750" y="3467100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OPD appointments, tokens and room calling remain hard to track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042F2-9FBC-45A8-8455-FFEDB1FBEF4B}"/>
              </a:ext>
            </a:extLst>
          </p:cNvPr>
          <p:cNvSpPr>
            <a:spLocks noGrp="1"/>
          </p:cNvSpPr>
          <p:nvPr/>
        </p:nvSpPr>
        <p:spPr>
          <a:xfrm>
            <a:off x="819150" y="40481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8B6A79-882F-4CF0-8CC0-5CBD19229282}"/>
              </a:ext>
            </a:extLst>
          </p:cNvPr>
          <p:cNvSpPr>
            <a:spLocks noGrp="1"/>
          </p:cNvSpPr>
          <p:nvPr/>
        </p:nvSpPr>
        <p:spPr>
          <a:xfrm>
            <a:off x="1047750" y="3962400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Diagnostics availability is not visible until the patient asks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544424-07E8-444D-8A70-66494D2EEF85}"/>
              </a:ext>
            </a:extLst>
          </p:cNvPr>
          <p:cNvSpPr>
            <a:spLocks noGrp="1"/>
          </p:cNvSpPr>
          <p:nvPr/>
        </p:nvSpPr>
        <p:spPr>
          <a:xfrm>
            <a:off x="819150" y="45434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586673-BE34-4482-8D34-FB5002DB9DD9}"/>
              </a:ext>
            </a:extLst>
          </p:cNvPr>
          <p:cNvSpPr>
            <a:spLocks noGrp="1"/>
          </p:cNvSpPr>
          <p:nvPr/>
        </p:nvSpPr>
        <p:spPr>
          <a:xfrm>
            <a:off x="1047750" y="4457700"/>
            <a:ext cx="6438900" cy="85642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Reports and payment status sit in separate 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desks which require transit and </a:t>
            </a:r>
            <a:r>
              <a:rPr lang="en-GB" sz="165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inquiries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92ABB-63CF-43D7-AE88-B2B2EA3A4C39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19050" cy="373380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076726-955C-4A58-9BC2-F4A5E90E0AFB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E3D348-1847-4F37-B01C-82028F82C8F6}"/>
              </a:ext>
            </a:extLst>
          </p:cNvPr>
          <p:cNvSpPr>
            <a:spLocks noGrp="1"/>
          </p:cNvSpPr>
          <p:nvPr/>
        </p:nvSpPr>
        <p:spPr>
          <a:xfrm>
            <a:off x="8953500" y="2571750"/>
            <a:ext cx="24765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B615E"/>
                </a:solidFill>
                <a:latin typeface="Aptos"/>
                <a:ea typeface="Aptos"/>
                <a:cs typeface="Aptos"/>
              </a:rPr>
              <a:t>Uncertainty creates early arrivals, crowding, repeated queries and stress for patients already dealing with cancer care.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AE6CD3-077C-C974-E7A7-1873859DA9B9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4F0CA3-E133-2955-E727-B6FEF6282A7D}"/>
              </a:ext>
            </a:extLst>
          </p:cNvPr>
          <p:cNvSpPr>
            <a:spLocks noGrp="1"/>
          </p:cNvSpPr>
          <p:nvPr/>
        </p:nvSpPr>
        <p:spPr>
          <a:xfrm>
            <a:off x="1047750" y="5200650"/>
            <a:ext cx="6438900" cy="85642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Patients are often lost </a:t>
            </a:r>
            <a:r>
              <a:rPr lang="en-GB" sz="165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between the crowding and various departments/sections in the hospital vicinity.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98969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600312-E782-4167-8786-46F1B4446B9E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CEEC0-3DA2-4B4D-83D5-CB135551B78E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HAPENS gives patients </a:t>
            </a: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digital access</a:t>
            </a:r>
            <a:endParaRPr sz="2550" b="1" dirty="0">
              <a:solidFill>
                <a:srgbClr val="0923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55A69-EBE5-4688-9EE4-7B2A865BB1ED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5C9C6-F456-4B21-ABA3-8196B600E672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2F54D-B82D-435B-97E3-11AE8E66617B}"/>
              </a:ext>
            </a:extLst>
          </p:cNvPr>
          <p:cNvSpPr>
            <a:spLocks noGrp="1"/>
          </p:cNvSpPr>
          <p:nvPr/>
        </p:nvSpPr>
        <p:spPr>
          <a:xfrm>
            <a:off x="685800" y="1924049"/>
            <a:ext cx="6477000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The dashboard</a:t>
            </a:r>
            <a:r>
              <a:rPr lang="en-GB"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of HAPENS</a:t>
            </a:r>
            <a:r>
              <a:rPr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combines the recurring tasks that usually send patients between counters, phone numbers and </a:t>
            </a:r>
            <a:r>
              <a:rPr lang="en-GB"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receipts</a:t>
            </a:r>
            <a:r>
              <a:rPr sz="18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B35BCD-90D6-4F52-9814-6500985104AF}"/>
              </a:ext>
            </a:extLst>
          </p:cNvPr>
          <p:cNvSpPr>
            <a:spLocks noGrp="1"/>
          </p:cNvSpPr>
          <p:nvPr/>
        </p:nvSpPr>
        <p:spPr>
          <a:xfrm>
            <a:off x="819150" y="30194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AA3D2-C61A-49B7-B906-7358E3E8BB14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596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Create or update the patient profile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2E530A-082D-4826-90E8-50754100959F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836C7-986E-4B4D-AE2F-4D276122B664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596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Request OPD slots by category and disease group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61CFA-9B99-48F7-AE4C-895C521F7652}"/>
              </a:ext>
            </a:extLst>
          </p:cNvPr>
          <p:cNvSpPr>
            <a:spLocks noGrp="1"/>
          </p:cNvSpPr>
          <p:nvPr/>
        </p:nvSpPr>
        <p:spPr>
          <a:xfrm>
            <a:off x="819150" y="39147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96380-F52E-44B8-88CA-657633D85489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596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Request diagnostics and see latest availability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4D78F-3C89-47BC-837B-0A63416BF771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C63990-BB60-48DA-88F4-3AEC56A6B4D1}"/>
              </a:ext>
            </a:extLst>
          </p:cNvPr>
          <p:cNvSpPr>
            <a:spLocks noGrp="1"/>
          </p:cNvSpPr>
          <p:nvPr/>
        </p:nvSpPr>
        <p:spPr>
          <a:xfrm>
            <a:off x="1047750" y="4276725"/>
            <a:ext cx="596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Track report status and download ready reports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B312A-753B-4EF8-BC7B-AFD8752CFEF7}"/>
              </a:ext>
            </a:extLst>
          </p:cNvPr>
          <p:cNvSpPr>
            <a:spLocks noGrp="1"/>
          </p:cNvSpPr>
          <p:nvPr/>
        </p:nvSpPr>
        <p:spPr>
          <a:xfrm>
            <a:off x="819150" y="48101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EE280D-D55F-41E7-9670-C6303417E7D7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596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Use HAPENS AI for </a:t>
            </a:r>
            <a:r>
              <a:rPr lang="en-GB"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automated tasks, </a:t>
            </a:r>
            <a:r>
              <a:rPr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voice talkback</a:t>
            </a:r>
            <a:r>
              <a:rPr lang="en-GB"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and </a:t>
            </a:r>
            <a:r>
              <a:rPr lang="en-GB" sz="1575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booking of slots.</a:t>
            </a:r>
            <a:endParaRPr sz="1575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rcRect t="5571" b="5571"/>
          <a:stretch>
            <a:fillRect/>
          </a:stretch>
        </p:blipFill>
        <p:spPr>
          <a:xfrm>
            <a:off x="7981950" y="1619250"/>
            <a:ext cx="2571750" cy="4953000"/>
          </a:xfrm>
          <a:prstGeom prst="roundRect">
            <a:avLst>
              <a:gd name="adj" fmla="val 5926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8CC8E23-C3C8-A04F-1187-7906828E1539}"/>
              </a:ext>
            </a:extLst>
          </p:cNvPr>
          <p:cNvSpPr>
            <a:spLocks noGrp="1"/>
          </p:cNvSpPr>
          <p:nvPr/>
        </p:nvSpPr>
        <p:spPr>
          <a:xfrm>
            <a:off x="819150" y="5472734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74252B-B63D-5ECC-ED32-A27AF8B7977A}"/>
              </a:ext>
            </a:extLst>
          </p:cNvPr>
          <p:cNvSpPr>
            <a:spLocks noGrp="1"/>
          </p:cNvSpPr>
          <p:nvPr/>
        </p:nvSpPr>
        <p:spPr>
          <a:xfrm>
            <a:off x="1047750" y="5387009"/>
            <a:ext cx="5962650" cy="66923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Guidance to locations using the geotag based checkpoint navigation.</a:t>
            </a:r>
            <a:endParaRPr sz="1575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426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7B603F-F6A9-4BEA-ADA7-A1F124EAA7EF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BBEDF-57A9-4923-A84F-1FBD83D46EB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Patient </a:t>
            </a:r>
            <a:r>
              <a:rPr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journey</a:t>
            </a: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 with HAPENS</a:t>
            </a:r>
            <a:endParaRPr sz="2550" b="1" dirty="0">
              <a:solidFill>
                <a:srgbClr val="0923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2B689-6ABA-4516-98EC-3EA9CC4057F5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2AFF3-DFE0-4ADE-AB7C-9382E6CE04CB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B8A10-2ADB-4B2C-8136-49D0B6515C6B}"/>
              </a:ext>
            </a:extLst>
          </p:cNvPr>
          <p:cNvSpPr>
            <a:spLocks noGrp="1"/>
          </p:cNvSpPr>
          <p:nvPr/>
        </p:nvSpPr>
        <p:spPr>
          <a:xfrm>
            <a:off x="819150" y="1981200"/>
            <a:ext cx="400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0A032-1575-4A18-8AC7-018CC8973A9B}"/>
              </a:ext>
            </a:extLst>
          </p:cNvPr>
          <p:cNvSpPr>
            <a:spLocks noGrp="1"/>
          </p:cNvSpPr>
          <p:nvPr/>
        </p:nvSpPr>
        <p:spPr>
          <a:xfrm>
            <a:off x="1390650" y="19431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Login or register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B4731F-965E-417B-942C-D1FC5AF3C5BC}"/>
              </a:ext>
            </a:extLst>
          </p:cNvPr>
          <p:cNvSpPr>
            <a:spLocks noGrp="1"/>
          </p:cNvSpPr>
          <p:nvPr/>
        </p:nvSpPr>
        <p:spPr>
          <a:xfrm>
            <a:off x="1390650" y="226695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271"/>
                </a:solidFill>
                <a:latin typeface="Aptos"/>
                <a:ea typeface="Aptos"/>
                <a:cs typeface="Aptos"/>
              </a:rPr>
              <a:t>Patient enters the app and creates a profile if new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AA91B-A890-443A-97A2-5472B15A669C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9050" cy="3238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C02A9-13D6-456C-88DD-5C591A1C721E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400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55707-B445-4A70-A0F8-0274547AB828}"/>
              </a:ext>
            </a:extLst>
          </p:cNvPr>
          <p:cNvSpPr>
            <a:spLocks noGrp="1"/>
          </p:cNvSpPr>
          <p:nvPr/>
        </p:nvSpPr>
        <p:spPr>
          <a:xfrm>
            <a:off x="1390650" y="27241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Choose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9E087F-4B94-4148-9D4E-D8E8F16E541B}"/>
              </a:ext>
            </a:extLst>
          </p:cNvPr>
          <p:cNvSpPr>
            <a:spLocks noGrp="1"/>
          </p:cNvSpPr>
          <p:nvPr/>
        </p:nvSpPr>
        <p:spPr>
          <a:xfrm>
            <a:off x="1390650" y="304800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E7271"/>
                </a:solidFill>
                <a:latin typeface="Aptos"/>
                <a:ea typeface="Aptos"/>
                <a:cs typeface="Aptos"/>
              </a:rPr>
              <a:t>Appointments, diagnostics, reports, payments or navigation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5E207-297F-47FD-A93A-02ABBF95CE79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19050" cy="3238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E9D378-4709-4B21-946D-6040B5D58DA2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400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B34BE8-12F2-4EAD-B3F7-ACAA4EC48046}"/>
              </a:ext>
            </a:extLst>
          </p:cNvPr>
          <p:cNvSpPr>
            <a:spLocks noGrp="1"/>
          </p:cNvSpPr>
          <p:nvPr/>
        </p:nvSpPr>
        <p:spPr>
          <a:xfrm>
            <a:off x="1390650" y="35052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Check availability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AD2170-89ED-4ECD-9BDD-9C23F9794871}"/>
              </a:ext>
            </a:extLst>
          </p:cNvPr>
          <p:cNvSpPr>
            <a:spLocks noGrp="1"/>
          </p:cNvSpPr>
          <p:nvPr/>
        </p:nvSpPr>
        <p:spPr>
          <a:xfrm>
            <a:off x="1390650" y="382905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271"/>
                </a:solidFill>
                <a:latin typeface="Aptos"/>
                <a:ea typeface="Aptos"/>
                <a:cs typeface="Aptos"/>
              </a:rPr>
              <a:t>The app searches slots and shows the earliest option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4385E6-EC6B-4111-A8AF-4957DC4E5B52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19050" cy="3238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0691ED-0475-4973-AE14-E53B281AC3CE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400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B74845-747C-4B48-ADC9-AEE749E97073}"/>
              </a:ext>
            </a:extLst>
          </p:cNvPr>
          <p:cNvSpPr>
            <a:spLocks noGrp="1"/>
          </p:cNvSpPr>
          <p:nvPr/>
        </p:nvSpPr>
        <p:spPr>
          <a:xfrm>
            <a:off x="1390650" y="4286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Confirm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CEDD17-1F83-47FC-9901-B398511A356A}"/>
              </a:ext>
            </a:extLst>
          </p:cNvPr>
          <p:cNvSpPr>
            <a:spLocks noGrp="1"/>
          </p:cNvSpPr>
          <p:nvPr/>
        </p:nvSpPr>
        <p:spPr>
          <a:xfrm>
            <a:off x="1390650" y="461010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7271"/>
                </a:solidFill>
                <a:latin typeface="Aptos"/>
                <a:ea typeface="Aptos"/>
                <a:cs typeface="Aptos"/>
              </a:rPr>
              <a:t>Patient confirms the appointment or test request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BF7866-C9CE-40AD-8BA7-436D1DC36757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9050" cy="3238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8319DB-67EE-4D67-82AF-F6A90155159E}"/>
              </a:ext>
            </a:extLst>
          </p:cNvPr>
          <p:cNvSpPr>
            <a:spLocks noGrp="1"/>
          </p:cNvSpPr>
          <p:nvPr/>
        </p:nvSpPr>
        <p:spPr>
          <a:xfrm>
            <a:off x="819150" y="5105400"/>
            <a:ext cx="400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D99AD7-9D9B-4AC6-A3A5-D5C6D95E3080}"/>
              </a:ext>
            </a:extLst>
          </p:cNvPr>
          <p:cNvSpPr>
            <a:spLocks noGrp="1"/>
          </p:cNvSpPr>
          <p:nvPr/>
        </p:nvSpPr>
        <p:spPr>
          <a:xfrm>
            <a:off x="1390650" y="50673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9233A"/>
                </a:solidFill>
                <a:latin typeface="Aptos"/>
                <a:ea typeface="Aptos"/>
                <a:cs typeface="Aptos"/>
              </a:rPr>
              <a:t>Visit with guidance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4E357C-67CE-436A-89E4-0EDA63038897}"/>
              </a:ext>
            </a:extLst>
          </p:cNvPr>
          <p:cNvSpPr>
            <a:spLocks noGrp="1"/>
          </p:cNvSpPr>
          <p:nvPr/>
        </p:nvSpPr>
        <p:spPr>
          <a:xfrm>
            <a:off x="1390650" y="539115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E7271"/>
                </a:solidFill>
                <a:latin typeface="Aptos"/>
                <a:ea typeface="Aptos"/>
                <a:cs typeface="Aptos"/>
              </a:rPr>
              <a:t>Token, room and report status </a:t>
            </a:r>
            <a:r>
              <a:rPr lang="en-GB" sz="1350" b="0" dirty="0">
                <a:solidFill>
                  <a:srgbClr val="5E7271"/>
                </a:solidFill>
                <a:latin typeface="Aptos"/>
                <a:ea typeface="Aptos"/>
                <a:cs typeface="Aptos"/>
              </a:rPr>
              <a:t>with navigational assistance</a:t>
            </a:r>
            <a:endParaRPr sz="1350" b="0" dirty="0">
              <a:solidFill>
                <a:srgbClr val="5E727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4"/>
          <a:srcRect t="7964" b="7964"/>
          <a:stretch>
            <a:fillRect/>
          </a:stretch>
        </p:blipFill>
        <p:spPr>
          <a:xfrm>
            <a:off x="8191500" y="1695450"/>
            <a:ext cx="2571750" cy="4686300"/>
          </a:xfrm>
          <a:prstGeom prst="roundRect">
            <a:avLst>
              <a:gd name="adj" fmla="val 5926"/>
            </a:avLst>
          </a:prstGeom>
        </p:spPr>
      </p:pic>
    </p:spTree>
    <p:extLst>
      <p:ext uri="{BB962C8B-B14F-4D97-AF65-F5344CB8AC3E}">
        <p14:creationId xmlns:p14="http://schemas.microsoft.com/office/powerpoint/2010/main" val="111135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43EBF0-F9DC-4EBE-9883-441830145F25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52298F-262E-4F04-BD88-BEB0FE5CFD6D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Functional C</a:t>
            </a:r>
            <a:r>
              <a:rPr sz="2550" b="1" dirty="0" err="1">
                <a:solidFill>
                  <a:srgbClr val="09233A"/>
                </a:solidFill>
                <a:latin typeface="Aptos"/>
                <a:ea typeface="Aptos"/>
                <a:cs typeface="Aptos"/>
              </a:rPr>
              <a:t>apabilities</a:t>
            </a:r>
            <a:endParaRPr sz="2550" b="1" dirty="0">
              <a:solidFill>
                <a:srgbClr val="0923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2D349-841E-4372-8DCE-81C23451A55F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EB7D9-02A3-41CE-B662-7577CDBA15C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F87B1-42B9-405D-8AA1-312BCEB0D0CE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Patient-facing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87695-C10B-452E-B3F7-4D2A32207C4D}"/>
              </a:ext>
            </a:extLst>
          </p:cNvPr>
          <p:cNvSpPr>
            <a:spLocks noGrp="1"/>
          </p:cNvSpPr>
          <p:nvPr/>
        </p:nvSpPr>
        <p:spPr>
          <a:xfrm>
            <a:off x="990600" y="27527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2DC36-F023-4191-8E68-443D35EE8999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Registration with documents and category selection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8EBE44-0622-40F7-9FFC-276282D565B8}"/>
              </a:ext>
            </a:extLst>
          </p:cNvPr>
          <p:cNvSpPr>
            <a:spLocks noGrp="1"/>
          </p:cNvSpPr>
          <p:nvPr/>
        </p:nvSpPr>
        <p:spPr>
          <a:xfrm>
            <a:off x="990600" y="31908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54C19-B513-4B19-9966-CD992166FE97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Appointment slot search with confirmation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47605-A5C5-49F1-B706-996EE165CF0E}"/>
              </a:ext>
            </a:extLst>
          </p:cNvPr>
          <p:cNvSpPr>
            <a:spLocks noGrp="1"/>
          </p:cNvSpPr>
          <p:nvPr/>
        </p:nvSpPr>
        <p:spPr>
          <a:xfrm>
            <a:off x="990600" y="36290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13A80-EEF5-4E4C-A75F-B72E180D9478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Diagnostics and test request 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A52823-6826-47B3-A3CE-35B9719481C4}"/>
              </a:ext>
            </a:extLst>
          </p:cNvPr>
          <p:cNvSpPr>
            <a:spLocks noGrp="1"/>
          </p:cNvSpPr>
          <p:nvPr/>
        </p:nvSpPr>
        <p:spPr>
          <a:xfrm>
            <a:off x="990600" y="40671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4EE81-D10E-4EF3-A35D-D7BA52DDD04D}"/>
              </a:ext>
            </a:extLst>
          </p:cNvPr>
          <p:cNvSpPr>
            <a:spLocks noGrp="1"/>
          </p:cNvSpPr>
          <p:nvPr/>
        </p:nvSpPr>
        <p:spPr>
          <a:xfrm>
            <a:off x="1219200" y="398145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Report status with download when ready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2301DD-8826-4165-AAC9-CDAFCE02AA9D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Admin console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64D2BA-D925-4977-8DC7-464BF1005025}"/>
              </a:ext>
            </a:extLst>
          </p:cNvPr>
          <p:cNvSpPr>
            <a:spLocks noGrp="1"/>
          </p:cNvSpPr>
          <p:nvPr/>
        </p:nvSpPr>
        <p:spPr>
          <a:xfrm>
            <a:off x="5086350" y="27527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CA1FC5-D0FD-4981-AC8F-4224561EFABB}"/>
              </a:ext>
            </a:extLst>
          </p:cNvPr>
          <p:cNvSpPr>
            <a:spLocks noGrp="1"/>
          </p:cNvSpPr>
          <p:nvPr/>
        </p:nvSpPr>
        <p:spPr>
          <a:xfrm>
            <a:off x="5314950" y="266700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Registration lookup and activation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C8FCF2-7F42-4028-BE36-D0546ED7B21E}"/>
              </a:ext>
            </a:extLst>
          </p:cNvPr>
          <p:cNvSpPr>
            <a:spLocks noGrp="1"/>
          </p:cNvSpPr>
          <p:nvPr/>
        </p:nvSpPr>
        <p:spPr>
          <a:xfrm>
            <a:off x="5086350" y="31908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E6324E-C225-47C5-A474-65FB8DBE45F8}"/>
              </a:ext>
            </a:extLst>
          </p:cNvPr>
          <p:cNvSpPr>
            <a:spLocks noGrp="1"/>
          </p:cNvSpPr>
          <p:nvPr/>
        </p:nvSpPr>
        <p:spPr>
          <a:xfrm>
            <a:off x="5314950" y="310515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Disease group assignment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4DBEE9-54ED-4515-A105-7F52E6B997A3}"/>
              </a:ext>
            </a:extLst>
          </p:cNvPr>
          <p:cNvSpPr>
            <a:spLocks noGrp="1"/>
          </p:cNvSpPr>
          <p:nvPr/>
        </p:nvSpPr>
        <p:spPr>
          <a:xfrm>
            <a:off x="5086350" y="36290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06D776-BC91-43A0-9EE2-98AC7517FFDD}"/>
              </a:ext>
            </a:extLst>
          </p:cNvPr>
          <p:cNvSpPr>
            <a:spLocks noGrp="1"/>
          </p:cNvSpPr>
          <p:nvPr/>
        </p:nvSpPr>
        <p:spPr>
          <a:xfrm>
            <a:off x="5314950" y="354330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OPD booking on behalf of patients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AF35BB-EC52-43DF-8508-2A8E6CE974DF}"/>
              </a:ext>
            </a:extLst>
          </p:cNvPr>
          <p:cNvSpPr>
            <a:spLocks noGrp="1"/>
          </p:cNvSpPr>
          <p:nvPr/>
        </p:nvSpPr>
        <p:spPr>
          <a:xfrm>
            <a:off x="5086350" y="40671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612221-7A3E-4962-B760-9D3990F24C4C}"/>
              </a:ext>
            </a:extLst>
          </p:cNvPr>
          <p:cNvSpPr>
            <a:spLocks noGrp="1"/>
          </p:cNvSpPr>
          <p:nvPr/>
        </p:nvSpPr>
        <p:spPr>
          <a:xfrm>
            <a:off x="5314950" y="3981450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32"/>
                </a:solidFill>
                <a:latin typeface="Aptos"/>
                <a:ea typeface="Aptos"/>
                <a:cs typeface="Aptos"/>
              </a:rPr>
              <a:t>Diagnostic booking by doctors or staff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31C51A-DE82-492A-B37B-8A6FC2D50EB4}"/>
              </a:ext>
            </a:extLst>
          </p:cNvPr>
          <p:cNvSpPr>
            <a:spLocks noGrp="1"/>
          </p:cNvSpPr>
          <p:nvPr/>
        </p:nvSpPr>
        <p:spPr>
          <a:xfrm>
            <a:off x="8858250" y="20955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Guided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B457EA-5C2C-4FA6-92AA-478FAE1C9011}"/>
              </a:ext>
            </a:extLst>
          </p:cNvPr>
          <p:cNvSpPr>
            <a:spLocks noGrp="1"/>
          </p:cNvSpPr>
          <p:nvPr/>
        </p:nvSpPr>
        <p:spPr>
          <a:xfrm>
            <a:off x="8991600" y="275272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71E91B-2BC5-4851-B510-B9490AD42D47}"/>
              </a:ext>
            </a:extLst>
          </p:cNvPr>
          <p:cNvSpPr>
            <a:spLocks noGrp="1"/>
          </p:cNvSpPr>
          <p:nvPr/>
        </p:nvSpPr>
        <p:spPr>
          <a:xfrm>
            <a:off x="9220200" y="266700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HAPENS AI</a:t>
            </a:r>
            <a:r>
              <a:rPr lang="en-GB" sz="13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for assistive help</a:t>
            </a:r>
            <a:endParaRPr sz="13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5562D4-287C-43DD-A637-A0D10A2DCFED}"/>
              </a:ext>
            </a:extLst>
          </p:cNvPr>
          <p:cNvSpPr>
            <a:spLocks noGrp="1"/>
          </p:cNvSpPr>
          <p:nvPr/>
        </p:nvSpPr>
        <p:spPr>
          <a:xfrm>
            <a:off x="8991600" y="31908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A28F9E-AD21-4FDF-A0EC-BF1FC35653B6}"/>
              </a:ext>
            </a:extLst>
          </p:cNvPr>
          <p:cNvSpPr>
            <a:spLocks noGrp="1"/>
          </p:cNvSpPr>
          <p:nvPr/>
        </p:nvSpPr>
        <p:spPr>
          <a:xfrm>
            <a:off x="9220200" y="31051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3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Book appointments, diagnostic slots, etc.</a:t>
            </a:r>
            <a:endParaRPr sz="13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5E75F3-7910-4806-B27A-76C848941F3F}"/>
              </a:ext>
            </a:extLst>
          </p:cNvPr>
          <p:cNvSpPr>
            <a:spLocks noGrp="1"/>
          </p:cNvSpPr>
          <p:nvPr/>
        </p:nvSpPr>
        <p:spPr>
          <a:xfrm>
            <a:off x="8991600" y="3701911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4FDDB6-A7E5-4AED-8945-D15E77759AF2}"/>
              </a:ext>
            </a:extLst>
          </p:cNvPr>
          <p:cNvSpPr>
            <a:spLocks noGrp="1"/>
          </p:cNvSpPr>
          <p:nvPr/>
        </p:nvSpPr>
        <p:spPr>
          <a:xfrm>
            <a:off x="9220200" y="3616186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Voice talkback </a:t>
            </a:r>
            <a:r>
              <a:rPr lang="en-GB" sz="13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option in multiple languages</a:t>
            </a:r>
            <a:endParaRPr sz="13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DF830D-70D2-4526-9FBC-11A926A3A80B}"/>
              </a:ext>
            </a:extLst>
          </p:cNvPr>
          <p:cNvSpPr>
            <a:spLocks noGrp="1"/>
          </p:cNvSpPr>
          <p:nvPr/>
        </p:nvSpPr>
        <p:spPr>
          <a:xfrm>
            <a:off x="8991600" y="4206321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989CE0-32E0-41B6-A532-33442D9E6484}"/>
              </a:ext>
            </a:extLst>
          </p:cNvPr>
          <p:cNvSpPr>
            <a:spLocks noGrp="1"/>
          </p:cNvSpPr>
          <p:nvPr/>
        </p:nvSpPr>
        <p:spPr>
          <a:xfrm>
            <a:off x="9220200" y="4120596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35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Provide seamless and secure support</a:t>
            </a:r>
            <a:endParaRPr sz="13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588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F51403-0495-4E80-9562-BFE3916F5B00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820A6-70DB-4CC3-AE76-2CDABFF84F2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HAPENS A</a:t>
            </a: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I</a:t>
            </a:r>
            <a:endParaRPr sz="2550" b="1" dirty="0">
              <a:solidFill>
                <a:srgbClr val="0923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A4D2E-AC7C-4DAE-9C00-BEAFD341C0BA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FCA6B-8C29-43AE-911A-86BC614D9603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rcRect t="8394" b="8394"/>
          <a:stretch>
            <a:fillRect/>
          </a:stretch>
        </p:blipFill>
        <p:spPr>
          <a:xfrm>
            <a:off x="819150" y="1762125"/>
            <a:ext cx="2667000" cy="4810125"/>
          </a:xfrm>
          <a:prstGeom prst="roundRect">
            <a:avLst>
              <a:gd name="adj" fmla="val 5714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0EBEC5-271C-422C-84E9-E1704679B3C9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6477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9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The assistant </a:t>
            </a:r>
            <a:r>
              <a:rPr lang="en-GB" sz="195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provides help with</a:t>
            </a:r>
            <a:r>
              <a:rPr sz="19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common operational</a:t>
            </a:r>
            <a:r>
              <a:rPr lang="en-GB" sz="19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 Truly consolidating the salient features of the application into one interactive chat-box.</a:t>
            </a:r>
            <a:endParaRPr sz="19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857DCE-C52B-431F-A754-8366D59D2A0B}"/>
              </a:ext>
            </a:extLst>
          </p:cNvPr>
          <p:cNvSpPr>
            <a:spLocks noGrp="1"/>
          </p:cNvSpPr>
          <p:nvPr/>
        </p:nvSpPr>
        <p:spPr>
          <a:xfrm>
            <a:off x="4248150" y="3190875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70550-34B0-4FB0-8964-C81E986262A3}"/>
              </a:ext>
            </a:extLst>
          </p:cNvPr>
          <p:cNvSpPr>
            <a:spLocks noGrp="1"/>
          </p:cNvSpPr>
          <p:nvPr/>
        </p:nvSpPr>
        <p:spPr>
          <a:xfrm>
            <a:off x="4476750" y="3105150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Patients can ask 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and book</a:t>
            </a: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CT, MRI, documents, OPD arrival time and payments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and more.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8228B3-4A8C-4399-992D-B6470CE55EDC}"/>
              </a:ext>
            </a:extLst>
          </p:cNvPr>
          <p:cNvSpPr>
            <a:spLocks noGrp="1"/>
          </p:cNvSpPr>
          <p:nvPr/>
        </p:nvSpPr>
        <p:spPr>
          <a:xfrm>
            <a:off x="4248150" y="3764859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3C7874-8F6E-4747-87CF-A2423264717C}"/>
              </a:ext>
            </a:extLst>
          </p:cNvPr>
          <p:cNvSpPr>
            <a:spLocks noGrp="1"/>
          </p:cNvSpPr>
          <p:nvPr/>
        </p:nvSpPr>
        <p:spPr>
          <a:xfrm>
            <a:off x="4476750" y="3679134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The assistant can surface available slots from the prototype schedule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and book based on patient approval.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AD7C82-AB8C-44E7-BF1D-477BAB90922C}"/>
              </a:ext>
            </a:extLst>
          </p:cNvPr>
          <p:cNvSpPr>
            <a:spLocks noGrp="1"/>
          </p:cNvSpPr>
          <p:nvPr/>
        </p:nvSpPr>
        <p:spPr>
          <a:xfrm>
            <a:off x="4248150" y="4358721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BF1B70-119D-4DC2-86C4-6AFE9BF65B56}"/>
              </a:ext>
            </a:extLst>
          </p:cNvPr>
          <p:cNvSpPr>
            <a:spLocks noGrp="1"/>
          </p:cNvSpPr>
          <p:nvPr/>
        </p:nvSpPr>
        <p:spPr>
          <a:xfrm>
            <a:off x="4476750" y="4272996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Voice talkback is included as an icon-level mockup for accessibility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0F466-A0C5-4250-9F39-1C8217ECC3A9}"/>
              </a:ext>
            </a:extLst>
          </p:cNvPr>
          <p:cNvSpPr>
            <a:spLocks noGrp="1"/>
          </p:cNvSpPr>
          <p:nvPr/>
        </p:nvSpPr>
        <p:spPr>
          <a:xfrm>
            <a:off x="4248150" y="4820063"/>
            <a:ext cx="85725" cy="85725"/>
          </a:xfrm>
          <a:prstGeom prst="rect">
            <a:avLst/>
          </a:prstGeom>
          <a:solidFill>
            <a:srgbClr val="0B615E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9CE2F2-35E0-47B9-90F3-4242C4C6F86E}"/>
              </a:ext>
            </a:extLst>
          </p:cNvPr>
          <p:cNvSpPr>
            <a:spLocks noGrp="1"/>
          </p:cNvSpPr>
          <p:nvPr/>
        </p:nvSpPr>
        <p:spPr>
          <a:xfrm>
            <a:off x="4476750" y="4734338"/>
            <a:ext cx="64389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Urgent or clinical decisions remain outside the 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AI </a:t>
            </a:r>
            <a:r>
              <a:rPr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assistant</a:t>
            </a:r>
            <a:r>
              <a:rPr lang="en-GB" sz="1650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.</a:t>
            </a:r>
            <a:endParaRPr sz="1650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4017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4572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5DB6A4-9348-4E29-9983-07CAD3034E15}"/>
              </a:ext>
            </a:extLst>
          </p:cNvPr>
          <p:cNvSpPr>
            <a:spLocks noGrp="1"/>
          </p:cNvSpPr>
          <p:nvPr/>
        </p:nvSpPr>
        <p:spPr>
          <a:xfrm>
            <a:off x="1257300" y="4572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HAPENS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D2BE1-1F95-4B58-B7B9-82FEAFA5B7C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8382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9233A"/>
                </a:solidFill>
                <a:latin typeface="Aptos"/>
                <a:ea typeface="Aptos"/>
                <a:cs typeface="Aptos"/>
              </a:defRPr>
            </a:pPr>
            <a:r>
              <a:rPr lang="en-GB" sz="2550" b="1" dirty="0">
                <a:solidFill>
                  <a:srgbClr val="09233A"/>
                </a:solidFill>
                <a:latin typeface="Aptos"/>
                <a:ea typeface="Aptos"/>
                <a:cs typeface="Aptos"/>
              </a:rPr>
              <a:t>Purpose of HAPENS</a:t>
            </a:r>
            <a:endParaRPr sz="2550" b="1" dirty="0">
              <a:solidFill>
                <a:srgbClr val="0923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7E9B8-1E00-4F3F-A758-A49D28C795A6}"/>
              </a:ext>
            </a:extLst>
          </p:cNvPr>
          <p:cNvSpPr>
            <a:spLocks noGrp="1"/>
          </p:cNvSpPr>
          <p:nvPr/>
        </p:nvSpPr>
        <p:spPr>
          <a:xfrm>
            <a:off x="10953750" y="4762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5E7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E72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1EA1F3-3EBB-4CCA-98C0-3C06826E73DA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820400" cy="19050"/>
          </a:xfrm>
          <a:prstGeom prst="rect">
            <a:avLst/>
          </a:prstGeom>
          <a:solidFill>
            <a:srgbClr val="BFD8D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7F856A-E5D5-4F7C-80B1-B7F4C9F97F32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202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HAPENS aims to make the hospital management process </a:t>
            </a:r>
            <a:r>
              <a:rPr lang="en-GB" sz="2025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seamless for the patient by providing a digital interface to manage most operations online.</a:t>
            </a:r>
            <a:r>
              <a:rPr lang="en-GB" sz="202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</a:t>
            </a:r>
            <a:endParaRPr sz="2025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E4886-F045-4672-91FD-FFDD7AEA12E5}"/>
              </a:ext>
            </a:extLst>
          </p:cNvPr>
          <p:cNvSpPr>
            <a:spLocks noGrp="1"/>
          </p:cNvSpPr>
          <p:nvPr/>
        </p:nvSpPr>
        <p:spPr>
          <a:xfrm>
            <a:off x="838200" y="3460469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Patients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313DF-666F-4EC9-B8EA-694F1FE10DB0}"/>
              </a:ext>
            </a:extLst>
          </p:cNvPr>
          <p:cNvSpPr>
            <a:spLocks noGrp="1"/>
          </p:cNvSpPr>
          <p:nvPr/>
        </p:nvSpPr>
        <p:spPr>
          <a:xfrm>
            <a:off x="3143250" y="3460469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Less queueing, clearer instructions, fewer unnecessary early arrivals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2E0E93-65E8-4B5F-8FB3-DCA84F58269C}"/>
              </a:ext>
            </a:extLst>
          </p:cNvPr>
          <p:cNvSpPr>
            <a:spLocks noGrp="1"/>
          </p:cNvSpPr>
          <p:nvPr/>
        </p:nvSpPr>
        <p:spPr>
          <a:xfrm>
            <a:off x="838200" y="4070069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OPD staff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B86716-2737-4761-9879-05FD383C1DD0}"/>
              </a:ext>
            </a:extLst>
          </p:cNvPr>
          <p:cNvSpPr>
            <a:spLocks noGrp="1"/>
          </p:cNvSpPr>
          <p:nvPr/>
        </p:nvSpPr>
        <p:spPr>
          <a:xfrm>
            <a:off x="3143250" y="4070069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Fewer repeated queries and better token discipline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1CE40-970D-409A-89E0-ADD1AE4776A3}"/>
              </a:ext>
            </a:extLst>
          </p:cNvPr>
          <p:cNvSpPr>
            <a:spLocks noGrp="1"/>
          </p:cNvSpPr>
          <p:nvPr/>
        </p:nvSpPr>
        <p:spPr>
          <a:xfrm>
            <a:off x="838200" y="4679669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15E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F847F9-E75D-4328-BF3B-B2C1DBCC7BCD}"/>
              </a:ext>
            </a:extLst>
          </p:cNvPr>
          <p:cNvSpPr>
            <a:spLocks noGrp="1"/>
          </p:cNvSpPr>
          <p:nvPr/>
        </p:nvSpPr>
        <p:spPr>
          <a:xfrm>
            <a:off x="3143250" y="4679669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Clear</a:t>
            </a:r>
            <a:r>
              <a:rPr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 visibility of available test slots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F28CB-2DAF-41F4-9F47-E04BAB4A8084}"/>
              </a:ext>
            </a:extLst>
          </p:cNvPr>
          <p:cNvSpPr>
            <a:spLocks noGrp="1"/>
          </p:cNvSpPr>
          <p:nvPr/>
        </p:nvSpPr>
        <p:spPr>
          <a:xfrm>
            <a:off x="838200" y="5289269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B615E"/>
                </a:solidFill>
                <a:latin typeface="Aptos"/>
                <a:ea typeface="Aptos"/>
                <a:cs typeface="Aptos"/>
              </a:defRPr>
            </a:pPr>
            <a:r>
              <a:rPr lang="en-GB" sz="1650" b="1" dirty="0">
                <a:solidFill>
                  <a:srgbClr val="0B615E"/>
                </a:solidFill>
                <a:latin typeface="Aptos"/>
                <a:ea typeface="Aptos"/>
                <a:cs typeface="Aptos"/>
              </a:rPr>
              <a:t>Navigation</a:t>
            </a:r>
            <a:endParaRPr sz="1650" b="1" dirty="0">
              <a:solidFill>
                <a:srgbClr val="0B61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BB3C6-2AE1-4DFD-8E2D-CFE296721F92}"/>
              </a:ext>
            </a:extLst>
          </p:cNvPr>
          <p:cNvSpPr>
            <a:spLocks noGrp="1"/>
          </p:cNvSpPr>
          <p:nvPr/>
        </p:nvSpPr>
        <p:spPr>
          <a:xfrm>
            <a:off x="3143250" y="5289269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73332"/>
                </a:solidFill>
                <a:latin typeface="Aptos"/>
                <a:ea typeface="Aptos"/>
                <a:cs typeface="Aptos"/>
              </a:defRPr>
            </a:pPr>
            <a:r>
              <a:rPr lang="en-GB" sz="1575" b="0" dirty="0">
                <a:solidFill>
                  <a:srgbClr val="173332"/>
                </a:solidFill>
                <a:latin typeface="Aptos"/>
                <a:ea typeface="Aptos"/>
                <a:cs typeface="Aptos"/>
              </a:rPr>
              <a:t>A geotag based system to assist movement inside the healthcare facility</a:t>
            </a:r>
            <a:endParaRPr sz="1575" b="0" dirty="0">
              <a:solidFill>
                <a:srgbClr val="17333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10367C-CECA-3A93-FC9A-1571401DB055}"/>
              </a:ext>
            </a:extLst>
          </p:cNvPr>
          <p:cNvSpPr txBox="1"/>
          <p:nvPr/>
        </p:nvSpPr>
        <p:spPr>
          <a:xfrm>
            <a:off x="543339" y="6003235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Preliminary application mock-up available at:- https://gauravs-1503.github.io/HAPENS/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225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D5C2C-5257-A80E-CD4E-A92DE9844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A11147-2CB8-3165-D86C-201F58DB5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394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577</Words>
  <Application>Microsoft Office PowerPoint</Application>
  <DocSecurity>0</DocSecurity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GAURAV SRIRAM</cp:lastModifiedBy>
  <cp:revision>8</cp:revision>
  <dcterms:created xsi:type="dcterms:W3CDTF">2026-09-23T17:13:08Z</dcterms:created>
  <dcterms:modified xsi:type="dcterms:W3CDTF">2026-09-25T06:19:07Z</dcterms:modified>
</cp:coreProperties>
</file>